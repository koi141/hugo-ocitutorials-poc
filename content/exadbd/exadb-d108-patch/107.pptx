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96" r:id="rId3"/>
    <p:sldId id="297" r:id="rId4"/>
    <p:sldId id="285" r:id="rId5"/>
    <p:sldId id="286" r:id="rId6"/>
    <p:sldId id="332" r:id="rId7"/>
    <p:sldId id="287" r:id="rId8"/>
    <p:sldId id="288" r:id="rId9"/>
    <p:sldId id="291" r:id="rId10"/>
    <p:sldId id="289" r:id="rId11"/>
    <p:sldId id="290" r:id="rId12"/>
    <p:sldId id="293" r:id="rId13"/>
    <p:sldId id="292" r:id="rId14"/>
    <p:sldId id="294" r:id="rId15"/>
    <p:sldId id="295" r:id="rId16"/>
    <p:sldId id="298" r:id="rId17"/>
    <p:sldId id="299" r:id="rId18"/>
    <p:sldId id="301" r:id="rId19"/>
    <p:sldId id="302" r:id="rId20"/>
    <p:sldId id="300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13" r:id="rId32"/>
    <p:sldId id="314" r:id="rId33"/>
    <p:sldId id="315" r:id="rId34"/>
    <p:sldId id="316" r:id="rId35"/>
    <p:sldId id="317" r:id="rId36"/>
    <p:sldId id="319" r:id="rId37"/>
    <p:sldId id="318" r:id="rId38"/>
    <p:sldId id="320" r:id="rId39"/>
    <p:sldId id="321" r:id="rId40"/>
    <p:sldId id="322" r:id="rId41"/>
    <p:sldId id="323" r:id="rId42"/>
    <p:sldId id="324" r:id="rId43"/>
    <p:sldId id="325" r:id="rId44"/>
    <p:sldId id="326" r:id="rId45"/>
    <p:sldId id="327" r:id="rId46"/>
    <p:sldId id="328" r:id="rId47"/>
    <p:sldId id="329" r:id="rId48"/>
    <p:sldId id="330" r:id="rId49"/>
    <p:sldId id="331" r:id="rId50"/>
    <p:sldId id="333" r:id="rId51"/>
    <p:sldId id="338" r:id="rId52"/>
    <p:sldId id="334" r:id="rId53"/>
    <p:sldId id="339" r:id="rId54"/>
    <p:sldId id="340" r:id="rId55"/>
    <p:sldId id="335" r:id="rId56"/>
    <p:sldId id="337" r:id="rId57"/>
    <p:sldId id="341" r:id="rId58"/>
    <p:sldId id="342" r:id="rId59"/>
    <p:sldId id="343" r:id="rId60"/>
    <p:sldId id="344" r:id="rId61"/>
    <p:sldId id="345" r:id="rId62"/>
    <p:sldId id="346" r:id="rId63"/>
    <p:sldId id="347" r:id="rId64"/>
    <p:sldId id="348" r:id="rId65"/>
    <p:sldId id="349" r:id="rId66"/>
    <p:sldId id="350" r:id="rId67"/>
    <p:sldId id="351" r:id="rId68"/>
    <p:sldId id="356" r:id="rId69"/>
    <p:sldId id="355" r:id="rId70"/>
    <p:sldId id="352" r:id="rId71"/>
    <p:sldId id="353" r:id="rId72"/>
    <p:sldId id="354" r:id="rId7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FD6D380-4471-4B06-BFBC-68C660FD006C}">
          <p14:sldIdLst>
            <p14:sldId id="283"/>
            <p14:sldId id="296"/>
            <p14:sldId id="297"/>
            <p14:sldId id="285"/>
            <p14:sldId id="286"/>
            <p14:sldId id="332"/>
            <p14:sldId id="287"/>
            <p14:sldId id="288"/>
            <p14:sldId id="291"/>
            <p14:sldId id="289"/>
            <p14:sldId id="290"/>
            <p14:sldId id="293"/>
            <p14:sldId id="292"/>
            <p14:sldId id="294"/>
            <p14:sldId id="295"/>
            <p14:sldId id="298"/>
            <p14:sldId id="299"/>
            <p14:sldId id="301"/>
            <p14:sldId id="302"/>
            <p14:sldId id="300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9"/>
            <p14:sldId id="318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</p14:sldIdLst>
        </p14:section>
        <p14:section name="out of place patch" id="{85AB4D4A-6444-4631-BDE2-C7D05AE9E360}">
          <p14:sldIdLst>
            <p14:sldId id="333"/>
            <p14:sldId id="338"/>
            <p14:sldId id="334"/>
            <p14:sldId id="339"/>
            <p14:sldId id="340"/>
            <p14:sldId id="335"/>
            <p14:sldId id="337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6"/>
            <p14:sldId id="355"/>
            <p14:sldId id="352"/>
            <p14:sldId id="353"/>
            <p14:sldId id="35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8E9DE-F884-4C8D-B258-3B817DF08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34CE4D-F498-47BB-95AA-34F2BBB218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1244B-CFBA-4264-9997-97D604C9A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2023/3/31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CEA84-11F7-4E6B-A0CD-30513436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9B01E-C57F-4716-9BF1-550EADF64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7193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A307C-663E-4FD1-AD19-58A0E93B2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4A47C-6289-417A-AE48-B4228FB0A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176F0-6BDC-47F6-A951-9662933E1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2023/3/31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8DE23-0154-4EB8-BF99-3D05BAD7B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3E4D3-13E2-4990-ACA1-A92B5A7D8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072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1D690-3AAA-4E60-9E64-A85B29178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E9866-AC16-434F-BFD1-39C7FF9A7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25DE3-A853-479E-B6FE-356612B8E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2023/3/31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391DB-00EE-4A3A-BF71-66D7F0E7A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8BFA1-3DB1-47AC-B441-BFBCE7AD4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4516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9334E-FA3C-49D9-9E25-339309A3E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49B52-4C11-4706-8294-E27DAFB38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7FAB5-720F-499B-B554-1ED8BA21D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91896-8A8E-44FD-BDE3-B82402DE6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2023/3/31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7A7D1-8B70-404C-8A01-817CF3DED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732D8-C2E4-4C8D-8E53-B184CA64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356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B2EE2-1C8D-40DB-9677-F91E49605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A66EF-AF28-423D-ABEA-CB8DAEF92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A6451A-A20B-4B0C-8E5E-454CA6023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74E667-A4DA-480F-8002-0C1AC5CA1C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B126FF-22FB-43A2-AA59-CFBEDC4EC1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A7AB72-EA4F-434C-A573-8C061AFAC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2023/3/31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CFA06B-FD8B-4FDA-BDE6-26B69EFBB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6D428E-6D7A-4676-9EC4-74084E36C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214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F2764-05E4-4701-B274-25A1DAB94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BF4756-C6AD-40B0-B3DE-808CCFF7D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2023/3/31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E39FE-376D-4961-9ED1-BE78C35B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A9E97-21AD-4473-A3B8-1B06FFCE4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184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54EB36-ACC9-408B-BFA8-1694866E6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2023/3/31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0F9565-6A5D-4BF2-9A20-C1E17CAC4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698AE-C22F-444C-B9E7-3FB3931FB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643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3987A-91EB-441B-B352-FEBB92EA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E846E-0C67-4D68-899B-A0883670E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870C9-FCDC-4A26-BA61-2D6E4C1C6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DD3B0-FEF9-40A0-8CE6-0DE521015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2023/3/31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D7B1D-8EE6-41CE-87EB-763D7CB17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8E410-9B14-4AC6-ACDE-3A4A73530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4716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BB78A-C10C-4360-BB98-7E4140276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280F4B-F160-43C7-88A9-80049B6FCF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09C24-31E5-46E2-87DC-3A7C2C6DD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13A5D-F061-4BB6-8214-F4AC31AD5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2023/3/31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166D8-2C0D-46F3-BEDE-E2D226EA6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0AC9A-6E58-4187-A898-5F81B6BC3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9140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99DEF-7134-46A6-9666-8D313824D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B3DD9B-152E-4F55-8696-959BB00B7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F8DCF-753C-4A8D-AE69-1E0B1A1F8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2023/3/31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C0DE3-2032-4950-A6F4-318A18898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BA19B-EEF0-4E18-BD89-1A1F14DE9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3985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04B8F6-A8BB-4CBD-BF1D-53F87C225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0DEA1-E878-44A4-953F-9334F29B9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DFA71-CDCC-4478-9E83-EEBEC5B50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2023/3/31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9A3A5-11E7-4E40-B16C-7F910201A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4272B-6628-4B46-A930-CAAD4823E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8950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FA9AEE-A28D-4BF6-B841-0A7F86645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03222-600C-4A51-8851-F1BF59414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F7CDF-4ED3-4DE9-98B5-957F024F4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532AA-C4A1-4154-8596-7323A5A46318}" type="datetimeFigureOut">
              <a:rPr kumimoji="1" lang="ja-JP" altLang="en-US" smtClean="0"/>
              <a:t>2023/3/31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61627-C761-43C8-B6C4-269AA286C7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B59CE-BC08-48FC-90A5-A8C874B59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832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9E6E97-C3CC-4071-A502-21BE4261B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3133"/>
            <a:ext cx="12192000" cy="3111734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862FC15C-0846-416E-8D83-8D2B314A2248}"/>
              </a:ext>
            </a:extLst>
          </p:cNvPr>
          <p:cNvSpPr/>
          <p:nvPr/>
        </p:nvSpPr>
        <p:spPr>
          <a:xfrm>
            <a:off x="160567" y="4316186"/>
            <a:ext cx="476248" cy="2721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5">
            <a:extLst>
              <a:ext uri="{FF2B5EF4-FFF2-40B4-BE49-F238E27FC236}">
                <a16:creationId xmlns:a16="http://schemas.microsoft.com/office/drawing/2014/main" id="{F1F00BFE-F83F-447F-9764-D4E6F6414628}"/>
              </a:ext>
            </a:extLst>
          </p:cNvPr>
          <p:cNvSpPr/>
          <p:nvPr/>
        </p:nvSpPr>
        <p:spPr>
          <a:xfrm>
            <a:off x="250375" y="3113319"/>
            <a:ext cx="10804069" cy="11321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14596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B08BF9-58B7-4E4D-8BAD-983869082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75"/>
            <a:ext cx="12192000" cy="6191250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D4A55824-A903-4326-9375-C639E15D386D}"/>
              </a:ext>
            </a:extLst>
          </p:cNvPr>
          <p:cNvSpPr/>
          <p:nvPr/>
        </p:nvSpPr>
        <p:spPr>
          <a:xfrm>
            <a:off x="1926392" y="2171193"/>
            <a:ext cx="1142589" cy="2301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5">
            <a:extLst>
              <a:ext uri="{FF2B5EF4-FFF2-40B4-BE49-F238E27FC236}">
                <a16:creationId xmlns:a16="http://schemas.microsoft.com/office/drawing/2014/main" id="{B96F5DD9-BA75-4609-B060-1D63216FFFB4}"/>
              </a:ext>
            </a:extLst>
          </p:cNvPr>
          <p:cNvSpPr/>
          <p:nvPr/>
        </p:nvSpPr>
        <p:spPr>
          <a:xfrm>
            <a:off x="1831347" y="1113604"/>
            <a:ext cx="1142589" cy="1682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6106D5B-229C-434A-97BB-69965A4B1574}"/>
              </a:ext>
            </a:extLst>
          </p:cNvPr>
          <p:cNvSpPr/>
          <p:nvPr/>
        </p:nvSpPr>
        <p:spPr>
          <a:xfrm>
            <a:off x="160567" y="4940696"/>
            <a:ext cx="985613" cy="14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6CBDFCB7-5AAB-45F7-BAF1-49D53C990BF1}"/>
              </a:ext>
            </a:extLst>
          </p:cNvPr>
          <p:cNvSpPr/>
          <p:nvPr/>
        </p:nvSpPr>
        <p:spPr>
          <a:xfrm>
            <a:off x="65520" y="5165122"/>
            <a:ext cx="1421448" cy="1440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74945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50A944-12A6-4804-A66F-F08D9FF70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57" y="0"/>
            <a:ext cx="11024886" cy="6858000"/>
          </a:xfrm>
          <a:prstGeom prst="rect">
            <a:avLst/>
          </a:prstGeom>
        </p:spPr>
      </p:pic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91BD7A2B-5B8E-4AA9-A2B9-6ABA2AA2FE16}"/>
              </a:ext>
            </a:extLst>
          </p:cNvPr>
          <p:cNvSpPr/>
          <p:nvPr/>
        </p:nvSpPr>
        <p:spPr>
          <a:xfrm>
            <a:off x="3748757" y="2618475"/>
            <a:ext cx="1959834" cy="1161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CE9FDB0-5DB7-4571-A592-C9ECA9D4FC33}"/>
              </a:ext>
            </a:extLst>
          </p:cNvPr>
          <p:cNvSpPr/>
          <p:nvPr/>
        </p:nvSpPr>
        <p:spPr>
          <a:xfrm>
            <a:off x="8421196" y="5153675"/>
            <a:ext cx="2825069" cy="2216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34633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4296A25-A0C0-458F-BA8F-A5053E504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13" y="3836529"/>
            <a:ext cx="9303521" cy="19263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9DDB05-411D-4324-825E-C2D31EE1434D}"/>
              </a:ext>
            </a:extLst>
          </p:cNvPr>
          <p:cNvSpPr txBox="1"/>
          <p:nvPr/>
        </p:nvSpPr>
        <p:spPr>
          <a:xfrm>
            <a:off x="822175" y="376602"/>
            <a:ext cx="1097493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dirty="0"/>
              <a:t>[grid@wasabi-isfff1 ~]$ /u01/app/19.0.0.0/grid/OPatch/opatch lspatches</a:t>
            </a:r>
          </a:p>
          <a:p>
            <a:r>
              <a:rPr lang="ja-JP" altLang="en-US" sz="1050" dirty="0"/>
              <a:t>34157035;OCW Interim patch for 34157035</a:t>
            </a:r>
          </a:p>
          <a:p>
            <a:r>
              <a:rPr lang="ja-JP" altLang="en-US" sz="1050" dirty="0"/>
              <a:t>34096213;Fix for Bug 34096213</a:t>
            </a:r>
          </a:p>
          <a:p>
            <a:r>
              <a:rPr lang="ja-JP" altLang="en-US" sz="1050" dirty="0"/>
              <a:t>33810360;CVE-2021-45943 REPORTED IN (OPEN SOURCE GEOSPATIAL FOUNDATION/GEOSPATIAL DATA ABSTRACTION LIBRARY/OPENGIS SIMPLE FEATURES REFERENCE IMPLEMENTATION (GDAL/OGR)/3.3.0)</a:t>
            </a:r>
          </a:p>
          <a:p>
            <a:r>
              <a:rPr lang="ja-JP" altLang="en-US" sz="1050" dirty="0"/>
              <a:t>33809062;TRACKING BUG FOR REGRESSION RTI 24544369 CAUSED BY PKNAGGS_BUG-32472737 APPROVED/INCLUDED IN 21.0.0.0 ADBSBP</a:t>
            </a:r>
          </a:p>
          <a:p>
            <a:r>
              <a:rPr lang="ja-JP" altLang="en-US" sz="1050" dirty="0"/>
              <a:t>33613833;DSTV37 UPDATE - TZDATA2021E - NEED OJVM FIX</a:t>
            </a:r>
          </a:p>
          <a:p>
            <a:r>
              <a:rPr lang="ja-JP" altLang="en-US" sz="1050" dirty="0"/>
              <a:t>33613829;RDBMS - DSTV37 UPDATE - TZDATA2021E</a:t>
            </a:r>
          </a:p>
          <a:p>
            <a:r>
              <a:rPr lang="ja-JP" altLang="en-US" sz="1050" dirty="0"/>
              <a:t>32327201;RDBMS - DSTV36 UPDATE - TZDATA2020E</a:t>
            </a:r>
          </a:p>
          <a:p>
            <a:r>
              <a:rPr lang="ja-JP" altLang="en-US" sz="1050" dirty="0"/>
              <a:t>31335037;RDBMS - DSTV35 UPDATE - TZDATA2020A</a:t>
            </a:r>
          </a:p>
          <a:p>
            <a:r>
              <a:rPr lang="ja-JP" altLang="en-US" sz="1050" dirty="0"/>
              <a:t>30432118;MERGE REQUEST ON TOP OF 19.0.0.0.0 FOR BUGS 28852325 29997937</a:t>
            </a:r>
          </a:p>
          <a:p>
            <a:r>
              <a:rPr lang="ja-JP" altLang="en-US" sz="1050" dirty="0"/>
              <a:t>33912872;DATABASE PERL UPDATE IN 19C TO V5.32-1 (CVE-2022-23990 - LIBEXPAT UPDATE)</a:t>
            </a:r>
          </a:p>
          <a:p>
            <a:r>
              <a:rPr lang="ja-JP" altLang="en-US" sz="1050" dirty="0"/>
              <a:t>33810130;JDK BUNDLE PATCH 19.0.0.0.220419</a:t>
            </a:r>
          </a:p>
          <a:p>
            <a:r>
              <a:rPr lang="ja-JP" altLang="en-US" sz="1050" dirty="0"/>
              <a:t>33808367;OJVM RELEASE UPDATE: 19.15.0.0.220419 (33808367)</a:t>
            </a:r>
          </a:p>
          <a:p>
            <a:r>
              <a:rPr lang="ja-JP" altLang="en-US" sz="1050" dirty="0"/>
              <a:t>33911149;TOMCAT RELEASE UPDATE 19.0.0.0.0 (33911149)</a:t>
            </a:r>
          </a:p>
          <a:p>
            <a:r>
              <a:rPr lang="ja-JP" altLang="en-US" sz="1050" dirty="0"/>
              <a:t>33815607;ACFS RELEASE UPDATE 19.15.0.0.0 (33815607)</a:t>
            </a:r>
          </a:p>
          <a:p>
            <a:r>
              <a:rPr lang="ja-JP" altLang="en-US" sz="1050" dirty="0"/>
              <a:t>33806152;Database Release Update : 19.15.0.0.220419 (33806152)</a:t>
            </a:r>
          </a:p>
          <a:p>
            <a:r>
              <a:rPr lang="ja-JP" altLang="en-US" sz="1050" dirty="0"/>
              <a:t>33575402;DBWLM RELEASE UPDATE 19.0.0.0.0 (33575402)</a:t>
            </a:r>
          </a:p>
          <a:p>
            <a:endParaRPr lang="ja-JP" altLang="en-US" sz="1050" dirty="0"/>
          </a:p>
          <a:p>
            <a:r>
              <a:rPr lang="ja-JP" altLang="en-US" sz="1050" dirty="0"/>
              <a:t>OPatch succeeded.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F21278-DB86-4830-9B97-D3356E562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353" y="4586047"/>
            <a:ext cx="8474579" cy="178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834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7A0AED-BDF1-46CD-B662-3BAE6FE8F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7" y="0"/>
            <a:ext cx="11059886" cy="6858000"/>
          </a:xfrm>
          <a:prstGeom prst="rect">
            <a:avLst/>
          </a:prstGeom>
        </p:spPr>
      </p:pic>
      <p:sp>
        <p:nvSpPr>
          <p:cNvPr id="3" name="正方形/長方形 5">
            <a:extLst>
              <a:ext uri="{FF2B5EF4-FFF2-40B4-BE49-F238E27FC236}">
                <a16:creationId xmlns:a16="http://schemas.microsoft.com/office/drawing/2014/main" id="{7215528E-20EF-4591-BB37-95F495538AB9}"/>
              </a:ext>
            </a:extLst>
          </p:cNvPr>
          <p:cNvSpPr/>
          <p:nvPr/>
        </p:nvSpPr>
        <p:spPr>
          <a:xfrm>
            <a:off x="3748757" y="2618475"/>
            <a:ext cx="1959834" cy="1161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CB4BDDB-CF8A-4B97-A2CB-0686744D1B19}"/>
              </a:ext>
            </a:extLst>
          </p:cNvPr>
          <p:cNvSpPr/>
          <p:nvPr/>
        </p:nvSpPr>
        <p:spPr>
          <a:xfrm>
            <a:off x="9532150" y="5427141"/>
            <a:ext cx="577525" cy="1874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44065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F1867F-C669-4054-9E54-54C39465A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0552"/>
            <a:ext cx="12192000" cy="569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867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0309708-0B19-4794-BE7D-162DC7ED6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0552"/>
            <a:ext cx="12192000" cy="5696896"/>
          </a:xfrm>
          <a:prstGeom prst="rect">
            <a:avLst/>
          </a:prstGeom>
        </p:spPr>
      </p:pic>
      <p:sp>
        <p:nvSpPr>
          <p:cNvPr id="3" name="正方形/長方形 4">
            <a:extLst>
              <a:ext uri="{FF2B5EF4-FFF2-40B4-BE49-F238E27FC236}">
                <a16:creationId xmlns:a16="http://schemas.microsoft.com/office/drawing/2014/main" id="{27637936-0D86-4499-8577-AE783790D80F}"/>
              </a:ext>
            </a:extLst>
          </p:cNvPr>
          <p:cNvSpPr/>
          <p:nvPr/>
        </p:nvSpPr>
        <p:spPr>
          <a:xfrm>
            <a:off x="1909301" y="2017368"/>
            <a:ext cx="10217181" cy="3754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5796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726174-08F2-415D-A17F-998429435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5147"/>
            <a:ext cx="12192000" cy="2487706"/>
          </a:xfrm>
          <a:prstGeom prst="rect">
            <a:avLst/>
          </a:prstGeom>
        </p:spPr>
      </p:pic>
      <p:sp>
        <p:nvSpPr>
          <p:cNvPr id="3" name="正方形/長方形 4">
            <a:extLst>
              <a:ext uri="{FF2B5EF4-FFF2-40B4-BE49-F238E27FC236}">
                <a16:creationId xmlns:a16="http://schemas.microsoft.com/office/drawing/2014/main" id="{197726E2-6DF9-4648-9DC9-4C0638759C3B}"/>
              </a:ext>
            </a:extLst>
          </p:cNvPr>
          <p:cNvSpPr/>
          <p:nvPr/>
        </p:nvSpPr>
        <p:spPr>
          <a:xfrm>
            <a:off x="11947022" y="3589794"/>
            <a:ext cx="153824" cy="4438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2D0D026-98EA-40E3-9E16-7A26886F7894}"/>
              </a:ext>
            </a:extLst>
          </p:cNvPr>
          <p:cNvSpPr/>
          <p:nvPr/>
        </p:nvSpPr>
        <p:spPr>
          <a:xfrm>
            <a:off x="10270622" y="3602045"/>
            <a:ext cx="1300384" cy="2948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11125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5525F3-BC93-40A2-AEC8-BD8599B28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62" y="2390630"/>
            <a:ext cx="9145276" cy="2076740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636C64CB-D3B4-4202-9155-181CA632F6D6}"/>
              </a:ext>
            </a:extLst>
          </p:cNvPr>
          <p:cNvSpPr/>
          <p:nvPr/>
        </p:nvSpPr>
        <p:spPr>
          <a:xfrm>
            <a:off x="1724827" y="3926785"/>
            <a:ext cx="1736219" cy="4315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58629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AC8589-DDD9-4763-8741-6A50488A1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3288"/>
            <a:ext cx="12192000" cy="1711423"/>
          </a:xfrm>
          <a:prstGeom prst="rect">
            <a:avLst/>
          </a:prstGeom>
        </p:spPr>
      </p:pic>
      <p:sp>
        <p:nvSpPr>
          <p:cNvPr id="3" name="正方形/長方形 4">
            <a:extLst>
              <a:ext uri="{FF2B5EF4-FFF2-40B4-BE49-F238E27FC236}">
                <a16:creationId xmlns:a16="http://schemas.microsoft.com/office/drawing/2014/main" id="{525DF800-CDAE-46F6-9E03-8CC34BF6DA63}"/>
              </a:ext>
            </a:extLst>
          </p:cNvPr>
          <p:cNvSpPr/>
          <p:nvPr/>
        </p:nvSpPr>
        <p:spPr>
          <a:xfrm>
            <a:off x="2622136" y="3320033"/>
            <a:ext cx="907278" cy="3888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34225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5ADF65-D1B4-4024-BFA1-AD9BF195E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6941"/>
            <a:ext cx="12192000" cy="1644118"/>
          </a:xfrm>
          <a:prstGeom prst="rect">
            <a:avLst/>
          </a:prstGeom>
        </p:spPr>
      </p:pic>
      <p:sp>
        <p:nvSpPr>
          <p:cNvPr id="3" name="正方形/長方形 4">
            <a:extLst>
              <a:ext uri="{FF2B5EF4-FFF2-40B4-BE49-F238E27FC236}">
                <a16:creationId xmlns:a16="http://schemas.microsoft.com/office/drawing/2014/main" id="{1F79A374-79F9-4988-8E97-5ADB4EC6B385}"/>
              </a:ext>
            </a:extLst>
          </p:cNvPr>
          <p:cNvSpPr/>
          <p:nvPr/>
        </p:nvSpPr>
        <p:spPr>
          <a:xfrm>
            <a:off x="2699048" y="3392672"/>
            <a:ext cx="907278" cy="3888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E417118-DB9C-4351-9BED-F21A791E1C05}"/>
              </a:ext>
            </a:extLst>
          </p:cNvPr>
          <p:cNvSpPr/>
          <p:nvPr/>
        </p:nvSpPr>
        <p:spPr>
          <a:xfrm>
            <a:off x="7919104" y="3396953"/>
            <a:ext cx="1891468" cy="3888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782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D2763F-DBC7-4A03-92DB-DB9ADBF64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5911"/>
            <a:ext cx="12192000" cy="1946177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06B5788-0886-44F2-B536-7C6D8182F5EC}"/>
              </a:ext>
            </a:extLst>
          </p:cNvPr>
          <p:cNvSpPr/>
          <p:nvPr/>
        </p:nvSpPr>
        <p:spPr>
          <a:xfrm>
            <a:off x="11972657" y="3234578"/>
            <a:ext cx="136733" cy="3888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4">
            <a:extLst>
              <a:ext uri="{FF2B5EF4-FFF2-40B4-BE49-F238E27FC236}">
                <a16:creationId xmlns:a16="http://schemas.microsoft.com/office/drawing/2014/main" id="{1A60A7BD-CA04-4DCE-9159-9BB3D49E6B90}"/>
              </a:ext>
            </a:extLst>
          </p:cNvPr>
          <p:cNvSpPr/>
          <p:nvPr/>
        </p:nvSpPr>
        <p:spPr>
          <a:xfrm>
            <a:off x="10217922" y="3525140"/>
            <a:ext cx="1672125" cy="2948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91807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F20303-39A4-4B11-B91F-951FC51D4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072" y="1814287"/>
            <a:ext cx="9173855" cy="3229426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5705AFA7-73A7-4D31-BCD9-1565E1F9D12E}"/>
              </a:ext>
            </a:extLst>
          </p:cNvPr>
          <p:cNvSpPr/>
          <p:nvPr/>
        </p:nvSpPr>
        <p:spPr>
          <a:xfrm>
            <a:off x="1759011" y="4546353"/>
            <a:ext cx="1112376" cy="4016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27861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D985EB-6CFB-4480-AF09-98B719E0F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2672"/>
            <a:ext cx="12192000" cy="163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013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9CCD35-CA4A-434C-ACCE-6D053439C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9314"/>
            <a:ext cx="12192000" cy="6319371"/>
          </a:xfrm>
          <a:prstGeom prst="rect">
            <a:avLst/>
          </a:prstGeom>
        </p:spPr>
      </p:pic>
      <p:sp>
        <p:nvSpPr>
          <p:cNvPr id="3" name="正方形/長方形 4">
            <a:extLst>
              <a:ext uri="{FF2B5EF4-FFF2-40B4-BE49-F238E27FC236}">
                <a16:creationId xmlns:a16="http://schemas.microsoft.com/office/drawing/2014/main" id="{8D228A87-69EB-424F-B405-4F67B40D5B22}"/>
              </a:ext>
            </a:extLst>
          </p:cNvPr>
          <p:cNvSpPr/>
          <p:nvPr/>
        </p:nvSpPr>
        <p:spPr>
          <a:xfrm>
            <a:off x="844611" y="2717554"/>
            <a:ext cx="573991" cy="3162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5">
            <a:extLst>
              <a:ext uri="{FF2B5EF4-FFF2-40B4-BE49-F238E27FC236}">
                <a16:creationId xmlns:a16="http://schemas.microsoft.com/office/drawing/2014/main" id="{4D26A072-E1AE-4F4D-BE96-0096230E67B3}"/>
              </a:ext>
            </a:extLst>
          </p:cNvPr>
          <p:cNvSpPr/>
          <p:nvPr/>
        </p:nvSpPr>
        <p:spPr>
          <a:xfrm>
            <a:off x="3535112" y="2601375"/>
            <a:ext cx="2122204" cy="18455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60412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390838-4B43-4509-802A-5DDF33749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7251"/>
            <a:ext cx="12192000" cy="622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823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728B19-2296-4984-9E4C-839ED7206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0366"/>
            <a:ext cx="12192000" cy="369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954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8BFF3B-1CCB-4CE5-9C3C-76F3B3576205}"/>
              </a:ext>
            </a:extLst>
          </p:cNvPr>
          <p:cNvSpPr txBox="1"/>
          <p:nvPr/>
        </p:nvSpPr>
        <p:spPr>
          <a:xfrm>
            <a:off x="1287922" y="628233"/>
            <a:ext cx="961615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/>
              <a:t>[grid@wasabi-isfff1 ~]$ /u01/app/19.0.0.0/grid/OPatch/opatch lspatches</a:t>
            </a:r>
          </a:p>
          <a:p>
            <a:r>
              <a:rPr lang="ja-JP" altLang="en-US" sz="1100" dirty="0"/>
              <a:t>34571842;OCW Interim patch for 34571842</a:t>
            </a:r>
          </a:p>
          <a:p>
            <a:r>
              <a:rPr lang="ja-JP" altLang="en-US" sz="1100" dirty="0"/>
              <a:t>34422617;JDK BUNDLE PATCH 19.0.0.0.221018</a:t>
            </a:r>
          </a:p>
          <a:p>
            <a:r>
              <a:rPr lang="ja-JP" altLang="en-US" sz="1100" dirty="0"/>
              <a:t>34580338;TOMCAT RELEASE UPDATE 19.0.0.0.0 (34580338)</a:t>
            </a:r>
          </a:p>
          <a:p>
            <a:r>
              <a:rPr lang="ja-JP" altLang="en-US" sz="1100" dirty="0"/>
              <a:t>34428761;ACFS RELEASE UPDATE 19.17.0.0.0 (34428761)</a:t>
            </a:r>
          </a:p>
          <a:p>
            <a:r>
              <a:rPr lang="ja-JP" altLang="en-US" sz="1100" dirty="0"/>
              <a:t>34419443;Database Release Update : 19.17.0.0.221018 (34419443)</a:t>
            </a:r>
          </a:p>
          <a:p>
            <a:r>
              <a:rPr lang="ja-JP" altLang="en-US" sz="1100" dirty="0"/>
              <a:t>33613833;DSTV37 UPDATE - TZDATA2021E - NEED OJVM FIX</a:t>
            </a:r>
          </a:p>
          <a:p>
            <a:r>
              <a:rPr lang="ja-JP" altLang="en-US" sz="1100" dirty="0"/>
              <a:t>33613829;RDBMS - DSTV37 UPDATE - TZDATA2021E</a:t>
            </a:r>
          </a:p>
          <a:p>
            <a:r>
              <a:rPr lang="ja-JP" altLang="en-US" sz="1100" dirty="0"/>
              <a:t>32327201;RDBMS - DSTV36 UPDATE - TZDATA2020E</a:t>
            </a:r>
          </a:p>
          <a:p>
            <a:r>
              <a:rPr lang="ja-JP" altLang="en-US" sz="1100" dirty="0"/>
              <a:t>31335037;RDBMS - DSTV35 UPDATE - TZDATA2020A</a:t>
            </a:r>
          </a:p>
          <a:p>
            <a:r>
              <a:rPr lang="ja-JP" altLang="en-US" sz="1100" dirty="0"/>
              <a:t>30432118;MERGE REQUEST ON TOP OF 19.0.0.0.0 FOR BUGS 28852325 29997937</a:t>
            </a:r>
          </a:p>
          <a:p>
            <a:r>
              <a:rPr lang="ja-JP" altLang="en-US" sz="1100" dirty="0"/>
              <a:t>33912872;DATABASE PERL UPDATE IN 19C TO V5.32-1 (CVE-2022-23990 - LIBEXPAT UPDATE)</a:t>
            </a:r>
          </a:p>
          <a:p>
            <a:r>
              <a:rPr lang="ja-JP" altLang="en-US" sz="1100" dirty="0"/>
              <a:t>33808367;OJVM RELEASE UPDATE: 19.15.0.0.220419 (33808367)</a:t>
            </a:r>
          </a:p>
          <a:p>
            <a:r>
              <a:rPr lang="ja-JP" altLang="en-US" sz="1100" dirty="0"/>
              <a:t>33575402;DBWLM RELEASE UPDATE 19.0.0.0.0 (33575402)</a:t>
            </a:r>
          </a:p>
          <a:p>
            <a:endParaRPr lang="ja-JP" altLang="en-US" sz="1100" dirty="0"/>
          </a:p>
          <a:p>
            <a:r>
              <a:rPr lang="ja-JP" altLang="en-US" sz="1100" dirty="0"/>
              <a:t>OPatch succeeded.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CA013C-2CF2-4432-A35B-988AE468E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547" y="3661578"/>
            <a:ext cx="8135485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080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390838-4B43-4509-802A-5DDF33749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7251"/>
            <a:ext cx="12192000" cy="6223498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AFBC277F-F426-4972-BF56-304C1927FF2F}"/>
              </a:ext>
            </a:extLst>
          </p:cNvPr>
          <p:cNvSpPr/>
          <p:nvPr/>
        </p:nvSpPr>
        <p:spPr>
          <a:xfrm>
            <a:off x="9826051" y="5724938"/>
            <a:ext cx="659069" cy="2999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5">
            <a:extLst>
              <a:ext uri="{FF2B5EF4-FFF2-40B4-BE49-F238E27FC236}">
                <a16:creationId xmlns:a16="http://schemas.microsoft.com/office/drawing/2014/main" id="{535F1608-B5E4-4F5F-89A1-960A2EF52749}"/>
              </a:ext>
            </a:extLst>
          </p:cNvPr>
          <p:cNvSpPr/>
          <p:nvPr/>
        </p:nvSpPr>
        <p:spPr>
          <a:xfrm>
            <a:off x="3504632" y="2682655"/>
            <a:ext cx="2124008" cy="16214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740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EE3095-DB4E-48DC-B06C-4FB4A1CDC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4514"/>
            <a:ext cx="12192000" cy="208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999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8EB44E-9C9E-492C-AE89-B974AD412071}"/>
              </a:ext>
            </a:extLst>
          </p:cNvPr>
          <p:cNvSpPr txBox="1"/>
          <p:nvPr/>
        </p:nvSpPr>
        <p:spPr>
          <a:xfrm>
            <a:off x="1160090" y="391023"/>
            <a:ext cx="8778667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/>
              <a:t>[oracle@wasabi-isfff1 ~]$ opatch lspatches</a:t>
            </a:r>
          </a:p>
          <a:p>
            <a:r>
              <a:rPr lang="ja-JP" altLang="en-US" sz="1100" dirty="0"/>
              <a:t>34122773;OCW Interim patch for 34122773</a:t>
            </a:r>
          </a:p>
          <a:p>
            <a:r>
              <a:rPr lang="ja-JP" altLang="en-US" sz="1100" dirty="0"/>
              <a:t>29780459;INCREASE _LM_RES_HASH_BUCKET AND BACK OUT CHANGES FROM THE BUG 29416368 FIX</a:t>
            </a:r>
          </a:p>
          <a:p>
            <a:r>
              <a:rPr lang="ja-JP" altLang="en-US" sz="1100" dirty="0"/>
              <a:t>34006650;DSTV38 UPDATE - TZDATA2022A - NEED OJVM FIX</a:t>
            </a:r>
          </a:p>
          <a:p>
            <a:r>
              <a:rPr lang="ja-JP" altLang="en-US" sz="1100" dirty="0"/>
              <a:t>34006614;RDBMS - DSTV38 UPDATE - TZDATA2022A</a:t>
            </a:r>
          </a:p>
          <a:p>
            <a:r>
              <a:rPr lang="ja-JP" altLang="en-US" sz="1100" dirty="0"/>
              <a:t>33613829;RDBMS - DSTV37 UPDATE - TZDATA2021E</a:t>
            </a:r>
          </a:p>
          <a:p>
            <a:r>
              <a:rPr lang="ja-JP" altLang="en-US" sz="1100" dirty="0"/>
              <a:t>32327201;RDBMS - DSTV36 UPDATE - TZDATA2020E</a:t>
            </a:r>
          </a:p>
          <a:p>
            <a:r>
              <a:rPr lang="ja-JP" altLang="en-US" sz="1100" dirty="0"/>
              <a:t>31335037;RDBMS - DSTV35 UPDATE - TZDATA2020A</a:t>
            </a:r>
          </a:p>
          <a:p>
            <a:r>
              <a:rPr lang="ja-JP" altLang="en-US" sz="1100" dirty="0"/>
              <a:t>30432118;MERGE REQUEST ON TOP OF 19.0.0.0.0 FOR BUGS 28852325 29997937</a:t>
            </a:r>
          </a:p>
          <a:p>
            <a:r>
              <a:rPr lang="ja-JP" altLang="en-US" sz="1100" dirty="0"/>
              <a:t>33912872;DATABASE PERL UPDATE IN 19C TO V5.32-1 (CVE-2022-23990 - LIBEXPAT UPDATE)</a:t>
            </a:r>
          </a:p>
          <a:p>
            <a:r>
              <a:rPr lang="ja-JP" altLang="en-US" sz="1100" dirty="0"/>
              <a:t>34113634;JDK BUNDLE PATCH 19.0.0.0.220719</a:t>
            </a:r>
          </a:p>
          <a:p>
            <a:r>
              <a:rPr lang="ja-JP" altLang="en-US" sz="1100" dirty="0"/>
              <a:t>34086870;OJVM RELEASE UPDATE: 19.16.0.0.220719 (34086870)</a:t>
            </a:r>
          </a:p>
          <a:p>
            <a:r>
              <a:rPr lang="ja-JP" altLang="en-US" sz="1100" dirty="0"/>
              <a:t>34133642;Database Release Update : 19.16.0.0.220719 (34133642)</a:t>
            </a:r>
          </a:p>
          <a:p>
            <a:endParaRPr lang="ja-JP" altLang="en-US" sz="1100" dirty="0"/>
          </a:p>
          <a:p>
            <a:r>
              <a:rPr lang="ja-JP" altLang="en-US" sz="1100" dirty="0"/>
              <a:t>OPatch succeeded.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280D72-5E53-4813-9389-CDA6D1B9D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243" y="3022513"/>
            <a:ext cx="8268854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280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168F3B-01A6-4BDF-99EA-57A15B5B9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3973"/>
            <a:ext cx="12192000" cy="2070053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77ACA0B3-1908-4DEF-80D4-3A8299F0DA8F}"/>
              </a:ext>
            </a:extLst>
          </p:cNvPr>
          <p:cNvSpPr/>
          <p:nvPr/>
        </p:nvSpPr>
        <p:spPr>
          <a:xfrm>
            <a:off x="10900284" y="3428999"/>
            <a:ext cx="910004" cy="2999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22B71E4-61B8-48FC-B9E5-AF0B51D0A0BC}"/>
              </a:ext>
            </a:extLst>
          </p:cNvPr>
          <p:cNvSpPr/>
          <p:nvPr/>
        </p:nvSpPr>
        <p:spPr>
          <a:xfrm>
            <a:off x="11810288" y="3536239"/>
            <a:ext cx="190856" cy="2999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71407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DB3E8E-B327-400A-9F92-E89E2547F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125" y="2490656"/>
            <a:ext cx="9135750" cy="1876687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3B4D1220-3E4D-46FB-A615-FDFCAC46AB9C}"/>
              </a:ext>
            </a:extLst>
          </p:cNvPr>
          <p:cNvSpPr/>
          <p:nvPr/>
        </p:nvSpPr>
        <p:spPr>
          <a:xfrm>
            <a:off x="1764830" y="3873380"/>
            <a:ext cx="1465480" cy="3738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95055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45217A-1C8E-47D1-ADCC-1C082FF10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8623"/>
            <a:ext cx="12192000" cy="2040754"/>
          </a:xfrm>
          <a:prstGeom prst="rect">
            <a:avLst/>
          </a:prstGeom>
        </p:spPr>
      </p:pic>
      <p:sp>
        <p:nvSpPr>
          <p:cNvPr id="6" name="正方形/長方形 4">
            <a:extLst>
              <a:ext uri="{FF2B5EF4-FFF2-40B4-BE49-F238E27FC236}">
                <a16:creationId xmlns:a16="http://schemas.microsoft.com/office/drawing/2014/main" id="{4BA01998-5CEE-4088-844E-FBA4FFA5BFBA}"/>
              </a:ext>
            </a:extLst>
          </p:cNvPr>
          <p:cNvSpPr/>
          <p:nvPr/>
        </p:nvSpPr>
        <p:spPr>
          <a:xfrm>
            <a:off x="3559446" y="3565731"/>
            <a:ext cx="910004" cy="2999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622223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E5651A-BB30-4AC7-919B-67149AB7A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2390"/>
            <a:ext cx="12192000" cy="2013220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F65ABEF9-D5FF-440D-8917-3C5D7A3105BF}"/>
              </a:ext>
            </a:extLst>
          </p:cNvPr>
          <p:cNvSpPr/>
          <p:nvPr/>
        </p:nvSpPr>
        <p:spPr>
          <a:xfrm>
            <a:off x="3559446" y="3565731"/>
            <a:ext cx="910004" cy="2999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694603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168F3B-01A6-4BDF-99EA-57A15B5B9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3973"/>
            <a:ext cx="12192000" cy="2070053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7186B52A-263B-4F25-B253-BD67C7D1AE89}"/>
              </a:ext>
            </a:extLst>
          </p:cNvPr>
          <p:cNvSpPr/>
          <p:nvPr/>
        </p:nvSpPr>
        <p:spPr>
          <a:xfrm>
            <a:off x="10900284" y="3770831"/>
            <a:ext cx="619447" cy="2999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D931639-09B7-49BE-9B8E-74A3D276BCBC}"/>
              </a:ext>
            </a:extLst>
          </p:cNvPr>
          <p:cNvSpPr/>
          <p:nvPr/>
        </p:nvSpPr>
        <p:spPr>
          <a:xfrm>
            <a:off x="11810288" y="3536239"/>
            <a:ext cx="190856" cy="2999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413384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5E9407-AA2F-4C15-A27E-5E7ACE5C6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941" y="1733313"/>
            <a:ext cx="9088118" cy="3391373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A3BC62C0-F3EF-4AD9-85EC-DC659403CE09}"/>
              </a:ext>
            </a:extLst>
          </p:cNvPr>
          <p:cNvSpPr/>
          <p:nvPr/>
        </p:nvSpPr>
        <p:spPr>
          <a:xfrm>
            <a:off x="1773375" y="4676685"/>
            <a:ext cx="1098012" cy="3482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882810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8C2C72-C653-41B9-97BC-2626B0E74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2368"/>
            <a:ext cx="12192000" cy="203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0573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6A03FD-B84B-4E1F-AD6E-E7D235DD5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0340"/>
            <a:ext cx="12192000" cy="235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6145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9DF2AB-2207-4607-898E-E12DCB7CD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2590"/>
            <a:ext cx="12192000" cy="6012819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34E3D4EF-23E5-4863-8EC1-B8BFB843D336}"/>
              </a:ext>
            </a:extLst>
          </p:cNvPr>
          <p:cNvSpPr/>
          <p:nvPr/>
        </p:nvSpPr>
        <p:spPr>
          <a:xfrm>
            <a:off x="816246" y="2899160"/>
            <a:ext cx="610902" cy="2286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70741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5787C8-95B4-4E03-BAFB-261C9E684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5383"/>
            <a:ext cx="12192000" cy="602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1862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C60B82-69DD-4E17-8D78-3C5D22B2A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5563"/>
            <a:ext cx="12192000" cy="238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443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AAF780-D612-4DFB-9A66-531162F98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1076"/>
            <a:ext cx="12192000" cy="205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0730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515158-F1F7-4B79-9991-526A6D04F851}"/>
              </a:ext>
            </a:extLst>
          </p:cNvPr>
          <p:cNvSpPr txBox="1"/>
          <p:nvPr/>
        </p:nvSpPr>
        <p:spPr>
          <a:xfrm>
            <a:off x="1386199" y="797510"/>
            <a:ext cx="9419602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/>
              <a:t>[oracle@wasabi-isfff1 ~]$ opatch lspatches</a:t>
            </a:r>
          </a:p>
          <a:p>
            <a:r>
              <a:rPr lang="ja-JP" altLang="en-US" sz="1100" dirty="0"/>
              <a:t>34571842;OCW Interim patch for 34571842</a:t>
            </a:r>
          </a:p>
          <a:p>
            <a:r>
              <a:rPr lang="ja-JP" altLang="en-US" sz="1100" dirty="0"/>
              <a:t>34533150;DSTV39 UPDATE - TZDATA2022C - NEED OJVM FIX</a:t>
            </a:r>
          </a:p>
          <a:p>
            <a:r>
              <a:rPr lang="ja-JP" altLang="en-US" sz="1100" dirty="0"/>
              <a:t>34533061;RDBMS - DSTV39 UPDATE - TZDATA2022C</a:t>
            </a:r>
          </a:p>
          <a:p>
            <a:r>
              <a:rPr lang="ja-JP" altLang="en-US" sz="1100" dirty="0"/>
              <a:t>33613829;RDBMS - DSTV37 UPDATE - TZDATA2021E</a:t>
            </a:r>
          </a:p>
          <a:p>
            <a:r>
              <a:rPr lang="ja-JP" altLang="en-US" sz="1100" dirty="0"/>
              <a:t>34422617;JDK BUNDLE PATCH 19.0.0.0.221018</a:t>
            </a:r>
          </a:p>
          <a:p>
            <a:r>
              <a:rPr lang="ja-JP" altLang="en-US" sz="1100" dirty="0"/>
              <a:t>34006614;RDBMS - DSTV38 UPDATE - TZDATA2022A</a:t>
            </a:r>
          </a:p>
          <a:p>
            <a:r>
              <a:rPr lang="ja-JP" altLang="en-US" sz="1100" dirty="0"/>
              <a:t>32327201;RDBMS - DSTV36 UPDATE - TZDATA2020E</a:t>
            </a:r>
          </a:p>
          <a:p>
            <a:r>
              <a:rPr lang="ja-JP" altLang="en-US" sz="1100" dirty="0"/>
              <a:t>31335037;RDBMS - DSTV35 UPDATE - TZDATA2020A</a:t>
            </a:r>
          </a:p>
          <a:p>
            <a:r>
              <a:rPr lang="ja-JP" altLang="en-US" sz="1100" dirty="0"/>
              <a:t>30432118;MERGE REQUEST ON TOP OF 19.0.0.0.0 FOR BUGS 28852325 29997937</a:t>
            </a:r>
          </a:p>
          <a:p>
            <a:r>
              <a:rPr lang="ja-JP" altLang="en-US" sz="1100" dirty="0"/>
              <a:t>33912872;DATABASE PERL UPDATE IN 19C TO V5.32-1 (CVE-2022-23990 - LIBEXPAT UPDATE)</a:t>
            </a:r>
          </a:p>
          <a:p>
            <a:r>
              <a:rPr lang="ja-JP" altLang="en-US" sz="1100" dirty="0"/>
              <a:t>34411846;OJVM RELEASE UPDATE: 19.17.0.0.221018 (34411846)</a:t>
            </a:r>
          </a:p>
          <a:p>
            <a:r>
              <a:rPr lang="ja-JP" altLang="en-US" sz="1100" dirty="0"/>
              <a:t>34419443;Database Release Update : 19.17.0.0.221018 (34419443)</a:t>
            </a:r>
          </a:p>
          <a:p>
            <a:endParaRPr lang="ja-JP" altLang="en-US" sz="1100" dirty="0"/>
          </a:p>
          <a:p>
            <a:r>
              <a:rPr lang="ja-JP" altLang="en-US" sz="1100" dirty="0"/>
              <a:t>OPatch succeeded.</a:t>
            </a:r>
          </a:p>
        </p:txBody>
      </p:sp>
    </p:spTree>
    <p:extLst>
      <p:ext uri="{BB962C8B-B14F-4D97-AF65-F5344CB8AC3E}">
        <p14:creationId xmlns:p14="http://schemas.microsoft.com/office/powerpoint/2010/main" val="29734772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F2342C-601B-4D6D-8EED-9C26534192FB}"/>
              </a:ext>
            </a:extLst>
          </p:cNvPr>
          <p:cNvSpPr txBox="1"/>
          <p:nvPr/>
        </p:nvSpPr>
        <p:spPr>
          <a:xfrm>
            <a:off x="3048712" y="1722976"/>
            <a:ext cx="609742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/>
              <a:t>[root@wasabi-isfff1 ~]# dbaascli patch tools list</a:t>
            </a:r>
          </a:p>
          <a:p>
            <a:r>
              <a:rPr lang="ja-JP" altLang="en-US" sz="1100" dirty="0"/>
              <a:t>DBAAS CLI version 22.3.1.1.0</a:t>
            </a:r>
          </a:p>
          <a:p>
            <a:r>
              <a:rPr lang="ja-JP" altLang="en-US" sz="1100" dirty="0"/>
              <a:t>Executing command patch tools list</a:t>
            </a:r>
          </a:p>
          <a:p>
            <a:r>
              <a:rPr lang="ja-JP" altLang="en-US" sz="1100" dirty="0"/>
              <a:t>Checking Current tools on all nodes</a:t>
            </a:r>
          </a:p>
          <a:p>
            <a:endParaRPr lang="ja-JP" altLang="en-US" sz="1100" dirty="0"/>
          </a:p>
          <a:p>
            <a:r>
              <a:rPr lang="ja-JP" altLang="en-US" sz="1100" dirty="0"/>
              <a:t>wasabi-isfff1: Patchid : 22.3.1.1.0_220826.0317</a:t>
            </a:r>
          </a:p>
          <a:p>
            <a:r>
              <a:rPr lang="ja-JP" altLang="en-US" sz="1100" dirty="0"/>
              <a:t>No applicable tools patches are available</a:t>
            </a:r>
          </a:p>
          <a:p>
            <a:endParaRPr lang="ja-JP" altLang="en-US" sz="1100" dirty="0"/>
          </a:p>
          <a:p>
            <a:r>
              <a:rPr lang="ja-JP" altLang="en-US" sz="1100" dirty="0"/>
              <a:t>wasabi-isfff2: Patchid : 22.3.1.1.0_220826.0317</a:t>
            </a:r>
          </a:p>
          <a:p>
            <a:r>
              <a:rPr lang="ja-JP" altLang="en-US" sz="1100" dirty="0"/>
              <a:t>No applicable tools patches are available</a:t>
            </a:r>
          </a:p>
          <a:p>
            <a:endParaRPr lang="ja-JP" altLang="en-US" sz="1100" dirty="0"/>
          </a:p>
          <a:p>
            <a:r>
              <a:rPr lang="ja-JP" altLang="en-US" sz="1100" dirty="0"/>
              <a:t>All Nodes have the same tools version</a:t>
            </a:r>
          </a:p>
        </p:txBody>
      </p:sp>
    </p:spTree>
    <p:extLst>
      <p:ext uri="{BB962C8B-B14F-4D97-AF65-F5344CB8AC3E}">
        <p14:creationId xmlns:p14="http://schemas.microsoft.com/office/powerpoint/2010/main" val="22824794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390838-4B43-4509-802A-5DDF33749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7251"/>
            <a:ext cx="12192000" cy="6223498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7FB5D9C8-51DF-4DCC-9FD3-5202F53919A9}"/>
              </a:ext>
            </a:extLst>
          </p:cNvPr>
          <p:cNvSpPr/>
          <p:nvPr/>
        </p:nvSpPr>
        <p:spPr>
          <a:xfrm>
            <a:off x="9826051" y="5724938"/>
            <a:ext cx="659069" cy="2999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5">
            <a:extLst>
              <a:ext uri="{FF2B5EF4-FFF2-40B4-BE49-F238E27FC236}">
                <a16:creationId xmlns:a16="http://schemas.microsoft.com/office/drawing/2014/main" id="{A1F8537A-E9CD-46B2-A405-2FB0B735A51D}"/>
              </a:ext>
            </a:extLst>
          </p:cNvPr>
          <p:cNvSpPr/>
          <p:nvPr/>
        </p:nvSpPr>
        <p:spPr>
          <a:xfrm>
            <a:off x="3504632" y="2682655"/>
            <a:ext cx="2124008" cy="16214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895818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314D7D-41AA-42BA-A362-DFD2A8EA9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2426"/>
            <a:ext cx="12192000" cy="393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8054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36F3B6-473B-48A9-8CE0-42678107D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1317"/>
            <a:ext cx="12192000" cy="2435366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CB336556-8D2A-407C-924D-9305450064AD}"/>
              </a:ext>
            </a:extLst>
          </p:cNvPr>
          <p:cNvSpPr/>
          <p:nvPr/>
        </p:nvSpPr>
        <p:spPr>
          <a:xfrm>
            <a:off x="10227703" y="3429000"/>
            <a:ext cx="1155295" cy="2999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DBB1889-3093-4400-AD16-6F6680E1729B}"/>
              </a:ext>
            </a:extLst>
          </p:cNvPr>
          <p:cNvSpPr/>
          <p:nvPr/>
        </p:nvSpPr>
        <p:spPr>
          <a:xfrm>
            <a:off x="11989750" y="3438258"/>
            <a:ext cx="126762" cy="2999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195907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008752-1CFD-4CA9-B6B0-F8C67FF3B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09" y="2495419"/>
            <a:ext cx="9183382" cy="1867161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585DE873-23C6-4CE5-AD09-641998716F64}"/>
              </a:ext>
            </a:extLst>
          </p:cNvPr>
          <p:cNvSpPr/>
          <p:nvPr/>
        </p:nvSpPr>
        <p:spPr>
          <a:xfrm>
            <a:off x="1758821" y="3881927"/>
            <a:ext cx="1497127" cy="3824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866912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D528AD-B352-4802-A496-743769E82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6434"/>
            <a:ext cx="12192000" cy="1645131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EF0F2016-9608-4E8A-A194-EF9A167E90B6}"/>
              </a:ext>
            </a:extLst>
          </p:cNvPr>
          <p:cNvSpPr/>
          <p:nvPr/>
        </p:nvSpPr>
        <p:spPr>
          <a:xfrm>
            <a:off x="2587763" y="3565733"/>
            <a:ext cx="822009" cy="2969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165659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C86CCF-98A5-41E8-83FD-D1D7493CD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7073"/>
            <a:ext cx="12192000" cy="1743853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74DE293D-C10E-43BE-A90B-06CEB74491D8}"/>
              </a:ext>
            </a:extLst>
          </p:cNvPr>
          <p:cNvSpPr/>
          <p:nvPr/>
        </p:nvSpPr>
        <p:spPr>
          <a:xfrm>
            <a:off x="2587763" y="3591371"/>
            <a:ext cx="873284" cy="2969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40165EA-37B7-4A43-8300-7E1E2BB6EB29}"/>
              </a:ext>
            </a:extLst>
          </p:cNvPr>
          <p:cNvSpPr/>
          <p:nvPr/>
        </p:nvSpPr>
        <p:spPr>
          <a:xfrm>
            <a:off x="7951675" y="3591371"/>
            <a:ext cx="1652562" cy="2969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227325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B15D4E-843A-4E8F-A6F1-FBB7684EE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0528"/>
            <a:ext cx="12192000" cy="2256944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33AD7729-92B2-4DD7-B017-62240B49430F}"/>
              </a:ext>
            </a:extLst>
          </p:cNvPr>
          <p:cNvSpPr/>
          <p:nvPr/>
        </p:nvSpPr>
        <p:spPr>
          <a:xfrm>
            <a:off x="11938475" y="3343543"/>
            <a:ext cx="136732" cy="2969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04D070F-04E9-4430-BC4B-EE793EDB43CE}"/>
              </a:ext>
            </a:extLst>
          </p:cNvPr>
          <p:cNvSpPr/>
          <p:nvPr/>
        </p:nvSpPr>
        <p:spPr>
          <a:xfrm>
            <a:off x="10176427" y="3640509"/>
            <a:ext cx="1762047" cy="2969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249086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151249-BECB-4F16-A39E-74E84F78E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62" y="1928603"/>
            <a:ext cx="9145276" cy="3000794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42EFF0A1-2699-4A8D-BAC3-D947A40A0834}"/>
              </a:ext>
            </a:extLst>
          </p:cNvPr>
          <p:cNvSpPr/>
          <p:nvPr/>
        </p:nvSpPr>
        <p:spPr>
          <a:xfrm>
            <a:off x="1775911" y="4460905"/>
            <a:ext cx="1967147" cy="3845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80237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DE7D6B-BDAA-405C-B965-B9F08B7A5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2333"/>
            <a:ext cx="12192000" cy="1693333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4F5B009C-AA1A-4ADC-ABBA-F87BD0EE8492}"/>
              </a:ext>
            </a:extLst>
          </p:cNvPr>
          <p:cNvSpPr/>
          <p:nvPr/>
        </p:nvSpPr>
        <p:spPr>
          <a:xfrm>
            <a:off x="2579216" y="3546506"/>
            <a:ext cx="719461" cy="3161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928174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DE5F9F-F22F-4FFC-A179-23747059D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5069"/>
            <a:ext cx="12192000" cy="6087861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CAAFF5EC-29FB-4DBE-85CF-E8162646F834}"/>
              </a:ext>
            </a:extLst>
          </p:cNvPr>
          <p:cNvSpPr/>
          <p:nvPr/>
        </p:nvSpPr>
        <p:spPr>
          <a:xfrm>
            <a:off x="870057" y="2914118"/>
            <a:ext cx="548545" cy="2563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5">
            <a:extLst>
              <a:ext uri="{FF2B5EF4-FFF2-40B4-BE49-F238E27FC236}">
                <a16:creationId xmlns:a16="http://schemas.microsoft.com/office/drawing/2014/main" id="{758C4BEA-EB58-42C5-9D46-13C77AD1F41D}"/>
              </a:ext>
            </a:extLst>
          </p:cNvPr>
          <p:cNvSpPr/>
          <p:nvPr/>
        </p:nvSpPr>
        <p:spPr>
          <a:xfrm>
            <a:off x="3547362" y="2786157"/>
            <a:ext cx="2124008" cy="16214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154363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9EB898-D48B-4761-8FA0-94820BD39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4433"/>
            <a:ext cx="12192000" cy="2229134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1E46EC3D-B361-4C7D-A11F-72DD053AD209}"/>
              </a:ext>
            </a:extLst>
          </p:cNvPr>
          <p:cNvSpPr/>
          <p:nvPr/>
        </p:nvSpPr>
        <p:spPr>
          <a:xfrm>
            <a:off x="2596307" y="3495232"/>
            <a:ext cx="779282" cy="2563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018476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B6379C-9C2B-4789-B64B-3340088DBCFD}"/>
              </a:ext>
            </a:extLst>
          </p:cNvPr>
          <p:cNvSpPr txBox="1"/>
          <p:nvPr/>
        </p:nvSpPr>
        <p:spPr>
          <a:xfrm>
            <a:off x="2710797" y="1643896"/>
            <a:ext cx="677040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/>
              <a:t>[root@wasabi-isfff1 ~]# imagehistory</a:t>
            </a:r>
          </a:p>
          <a:p>
            <a:r>
              <a:rPr lang="ja-JP" altLang="en-US" sz="1100" dirty="0"/>
              <a:t>Version                              : 21.2.11.0.0.220414.1</a:t>
            </a:r>
          </a:p>
          <a:p>
            <a:r>
              <a:rPr lang="ja-JP" altLang="en-US" sz="1100" dirty="0"/>
              <a:t>Image activation date                : 2022-09-28 13:40:38 +0900</a:t>
            </a:r>
          </a:p>
          <a:p>
            <a:r>
              <a:rPr lang="ja-JP" altLang="en-US" sz="1100" dirty="0"/>
              <a:t>Imaging mode                         : fresh</a:t>
            </a:r>
          </a:p>
          <a:p>
            <a:r>
              <a:rPr lang="ja-JP" altLang="en-US" sz="1100" dirty="0"/>
              <a:t>Imaging status                       : success</a:t>
            </a:r>
          </a:p>
          <a:p>
            <a:endParaRPr lang="ja-JP" altLang="en-US" sz="1100" dirty="0"/>
          </a:p>
          <a:p>
            <a:r>
              <a:rPr lang="ja-JP" altLang="en-US" sz="1100" dirty="0"/>
              <a:t>Version                              : 22.1.4.0.0.221020</a:t>
            </a:r>
          </a:p>
          <a:p>
            <a:r>
              <a:rPr lang="ja-JP" altLang="en-US" sz="1100" dirty="0"/>
              <a:t>Image activation date                : 2022-11-11 10:45:44 +0900</a:t>
            </a:r>
          </a:p>
          <a:p>
            <a:r>
              <a:rPr lang="ja-JP" altLang="en-US" sz="1100" dirty="0"/>
              <a:t>Imaging mode                         : patch</a:t>
            </a:r>
          </a:p>
          <a:p>
            <a:r>
              <a:rPr lang="ja-JP" altLang="en-US" sz="1100" dirty="0"/>
              <a:t>Imaging status                       : success</a:t>
            </a:r>
          </a:p>
        </p:txBody>
      </p:sp>
    </p:spTree>
    <p:extLst>
      <p:ext uri="{BB962C8B-B14F-4D97-AF65-F5344CB8AC3E}">
        <p14:creationId xmlns:p14="http://schemas.microsoft.com/office/powerpoint/2010/main" val="39395738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9D590B-D526-44AB-A70E-A71B80CCC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7024"/>
            <a:ext cx="12192000" cy="240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064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F99B5B-1110-447A-BAD6-AC1619058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5443"/>
            <a:ext cx="12192000" cy="592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6542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F958D0-34E1-4BB3-8480-A84FF085E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3" y="463397"/>
            <a:ext cx="12148174" cy="5931205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332F0441-B5EA-4337-95F3-BCC12A456DC5}"/>
              </a:ext>
            </a:extLst>
          </p:cNvPr>
          <p:cNvSpPr/>
          <p:nvPr/>
        </p:nvSpPr>
        <p:spPr>
          <a:xfrm>
            <a:off x="2396801" y="2730461"/>
            <a:ext cx="779282" cy="2563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5">
            <a:extLst>
              <a:ext uri="{FF2B5EF4-FFF2-40B4-BE49-F238E27FC236}">
                <a16:creationId xmlns:a16="http://schemas.microsoft.com/office/drawing/2014/main" id="{76CC91FC-902D-4F1F-9F4B-B836D024B047}"/>
              </a:ext>
            </a:extLst>
          </p:cNvPr>
          <p:cNvSpPr/>
          <p:nvPr/>
        </p:nvSpPr>
        <p:spPr>
          <a:xfrm>
            <a:off x="2300453" y="1353712"/>
            <a:ext cx="1440274" cy="2563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393415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BEEDB7-EC36-4A0A-8AE1-39F8FAF19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71" y="666608"/>
            <a:ext cx="10833657" cy="552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0841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18281D-CA91-4EF2-8B3D-D7BEDDB59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" y="428471"/>
            <a:ext cx="12186276" cy="6001058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6FC38FD5-5B3E-4697-BA14-16F50E678AAB}"/>
              </a:ext>
            </a:extLst>
          </p:cNvPr>
          <p:cNvSpPr/>
          <p:nvPr/>
        </p:nvSpPr>
        <p:spPr>
          <a:xfrm>
            <a:off x="8298838" y="1882563"/>
            <a:ext cx="637344" cy="2454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796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C8F851-667D-4CB0-A953-3E6DD761A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58" y="1849402"/>
            <a:ext cx="10185923" cy="252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0384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131FE-5212-4DA3-82AE-E2410D3B4E6E}"/>
              </a:ext>
            </a:extLst>
          </p:cNvPr>
          <p:cNvSpPr txBox="1"/>
          <p:nvPr/>
        </p:nvSpPr>
        <p:spPr>
          <a:xfrm>
            <a:off x="4767349" y="3244334"/>
            <a:ext cx="3079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 </a:t>
            </a:r>
            <a:r>
              <a:rPr kumimoji="1" lang="en-US" altLang="ja-JP" dirty="0" err="1"/>
              <a:t>lspatches</a:t>
            </a:r>
            <a:r>
              <a:rPr kumimoji="1" lang="ja-JP" altLang="en-US" dirty="0"/>
              <a:t>コマンド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D7C37C-99C4-4616-92B4-1799FF389CE7}"/>
              </a:ext>
            </a:extLst>
          </p:cNvPr>
          <p:cNvSpPr txBox="1"/>
          <p:nvPr/>
        </p:nvSpPr>
        <p:spPr>
          <a:xfrm>
            <a:off x="274936" y="658553"/>
            <a:ext cx="1191706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900" dirty="0"/>
              <a:t>[oracle@oradb-lxxkd1 ~]$ </a:t>
            </a:r>
            <a:r>
              <a:rPr kumimoji="1" lang="en-US" altLang="ja-JP" sz="900" dirty="0" err="1"/>
              <a:t>opatch</a:t>
            </a:r>
            <a:r>
              <a:rPr kumimoji="1" lang="en-US" altLang="ja-JP" sz="900" dirty="0"/>
              <a:t> </a:t>
            </a:r>
            <a:r>
              <a:rPr kumimoji="1" lang="en-US" altLang="ja-JP" sz="900" dirty="0" err="1"/>
              <a:t>lspatches</a:t>
            </a:r>
            <a:endParaRPr kumimoji="1" lang="en-US" altLang="ja-JP" sz="900" dirty="0"/>
          </a:p>
          <a:p>
            <a:r>
              <a:rPr kumimoji="1" lang="en-US" altLang="ja-JP" sz="900" dirty="0"/>
              <a:t>34088989;ONE-OFF REQUEST FOR DELETE DIR FOR SUPTOOLS/TFA + SUPTOOLS/ORACHK + SUPTOOLS/ORACHK.ZIP FROM DB PSU/BP/RU/RUR</a:t>
            </a:r>
          </a:p>
          <a:p>
            <a:r>
              <a:rPr kumimoji="1" lang="en-US" altLang="ja-JP" sz="900" dirty="0"/>
              <a:t>34096213;Fix for Bug 34096213</a:t>
            </a:r>
          </a:p>
          <a:p>
            <a:r>
              <a:rPr kumimoji="1" lang="en-US" altLang="ja-JP" sz="900" dirty="0"/>
              <a:t>33810360;CVE-2021-45943 REPORTED IN (OPEN SOURCE GEOSPATIAL FOUNDATION/GEOSPATIAL DATA ABSTRACTION LIBRARY/OPENGIS SIMPLE FEATURES REFERENCE IMPLEMENTATION (GDAL/OGR)/3.3.0)</a:t>
            </a:r>
          </a:p>
          <a:p>
            <a:r>
              <a:rPr kumimoji="1" lang="en-US" altLang="ja-JP" sz="900" dirty="0"/>
              <a:t>33809062;TRACKING BUG FOR REGRESSION RTI 24544369 CAUSED BY PKNAGGS_BUG-32472737 APPROVED/INCLUDED IN 21.0.0.0 ADBSBP</a:t>
            </a:r>
          </a:p>
          <a:p>
            <a:r>
              <a:rPr kumimoji="1" lang="en-US" altLang="ja-JP" sz="900" dirty="0"/>
              <a:t>29780459;INCREASE _LM_RES_HASH_BUCKET AND BACK OUT CHANGES FROM THE BUG 29416368 FIX</a:t>
            </a:r>
          </a:p>
          <a:p>
            <a:r>
              <a:rPr kumimoji="1" lang="en-US" altLang="ja-JP" sz="900" dirty="0"/>
              <a:t>33613833;DSTV37 UPDATE - TZDATA2021E - NEED OJVM FIX</a:t>
            </a:r>
          </a:p>
          <a:p>
            <a:r>
              <a:rPr kumimoji="1" lang="en-US" altLang="ja-JP" sz="900" dirty="0"/>
              <a:t>33613829;RDBMS - DSTV37 UPDATE - TZDATA2021E</a:t>
            </a:r>
          </a:p>
          <a:p>
            <a:r>
              <a:rPr kumimoji="1" lang="en-US" altLang="ja-JP" sz="900" dirty="0"/>
              <a:t>32327201;RDBMS - DSTV36 UPDATE - TZDATA2020E</a:t>
            </a:r>
          </a:p>
          <a:p>
            <a:r>
              <a:rPr kumimoji="1" lang="en-US" altLang="ja-JP" sz="900" dirty="0"/>
              <a:t>31335037;RDBMS - DSTV35 UPDATE - TZDATA2020A</a:t>
            </a:r>
          </a:p>
          <a:p>
            <a:r>
              <a:rPr kumimoji="1" lang="en-US" altLang="ja-JP" sz="900" dirty="0"/>
              <a:t>30432118;MERGE REQUEST ON TOP OF 19.0.0.0.0 FOR BUGS 28852325 29997937</a:t>
            </a:r>
          </a:p>
          <a:p>
            <a:r>
              <a:rPr kumimoji="1" lang="en-US" altLang="ja-JP" sz="900" dirty="0"/>
              <a:t>33912872;DATABASE PERL UPDATE IN 19C TO V5.32-1 (CVE-2022-23990 - LIBEXPAT UPDATE)</a:t>
            </a:r>
          </a:p>
          <a:p>
            <a:r>
              <a:rPr kumimoji="1" lang="en-US" altLang="ja-JP" sz="900" dirty="0"/>
              <a:t>33810130;JDK BUNDLE PATCH 19.0.0.0.220419</a:t>
            </a:r>
          </a:p>
          <a:p>
            <a:r>
              <a:rPr kumimoji="1" lang="en-US" altLang="ja-JP" sz="900" dirty="0"/>
              <a:t>33808367;OJVM RELEASE UPDATE: 19.15.0.0.220419 (33808367)</a:t>
            </a:r>
          </a:p>
          <a:p>
            <a:r>
              <a:rPr kumimoji="1" lang="en-US" altLang="ja-JP" sz="900" dirty="0"/>
              <a:t>33815596;OCW RELEASE UPDATE 19.15.0.0.0 (33815596)</a:t>
            </a:r>
          </a:p>
          <a:p>
            <a:r>
              <a:rPr kumimoji="1" lang="en-US" altLang="ja-JP" sz="900" dirty="0"/>
              <a:t>33806152;Database Release Update : 19.15.0.0.220419 (33806152)</a:t>
            </a:r>
          </a:p>
          <a:p>
            <a:endParaRPr kumimoji="1" lang="en-US" altLang="ja-JP" sz="900" dirty="0"/>
          </a:p>
          <a:p>
            <a:r>
              <a:rPr kumimoji="1" lang="en-US" altLang="ja-JP" sz="900" dirty="0" err="1"/>
              <a:t>OPatch</a:t>
            </a:r>
            <a:r>
              <a:rPr kumimoji="1" lang="en-US" altLang="ja-JP" sz="900" dirty="0"/>
              <a:t> succeeded.</a:t>
            </a:r>
            <a:endParaRPr kumimoji="1" lang="ja-JP" alt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CA8903-0404-417C-86D3-8E9ABE3CE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904" y="3945401"/>
            <a:ext cx="7321926" cy="254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5244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CD997B7-945C-4869-B59F-D60E317AE91D}"/>
              </a:ext>
            </a:extLst>
          </p:cNvPr>
          <p:cNvSpPr txBox="1"/>
          <p:nvPr/>
        </p:nvSpPr>
        <p:spPr>
          <a:xfrm>
            <a:off x="4276897" y="1159625"/>
            <a:ext cx="4759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106</a:t>
            </a:r>
            <a:r>
              <a:rPr lang="ja-JP" altLang="en-US" dirty="0"/>
              <a:t>を参考にデータベースホームの作成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337225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93ABB6-6283-4B63-8B6D-CF59A0E52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7" y="2108132"/>
            <a:ext cx="11970365" cy="2641736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3D967A3F-7966-4074-A0C5-C8828F72DBC6}"/>
              </a:ext>
            </a:extLst>
          </p:cNvPr>
          <p:cNvSpPr/>
          <p:nvPr/>
        </p:nvSpPr>
        <p:spPr>
          <a:xfrm>
            <a:off x="2402378" y="3370541"/>
            <a:ext cx="3693621" cy="3036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5">
            <a:extLst>
              <a:ext uri="{FF2B5EF4-FFF2-40B4-BE49-F238E27FC236}">
                <a16:creationId xmlns:a16="http://schemas.microsoft.com/office/drawing/2014/main" id="{1A521F88-AE6B-43FC-A211-F765C1AE5DFE}"/>
              </a:ext>
            </a:extLst>
          </p:cNvPr>
          <p:cNvSpPr/>
          <p:nvPr/>
        </p:nvSpPr>
        <p:spPr>
          <a:xfrm>
            <a:off x="2452255" y="4050608"/>
            <a:ext cx="9509759" cy="2563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87031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2BA284-A029-403E-9B76-2D495CFB8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0" y="2209737"/>
            <a:ext cx="12040219" cy="2438525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B54FB8C5-B24D-43E3-8B24-BB6518DD734D}"/>
              </a:ext>
            </a:extLst>
          </p:cNvPr>
          <p:cNvSpPr/>
          <p:nvPr/>
        </p:nvSpPr>
        <p:spPr>
          <a:xfrm>
            <a:off x="2402378" y="3553421"/>
            <a:ext cx="440575" cy="3036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910873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90829E-DE45-4C30-8145-6D2AF0D95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91" y="679308"/>
            <a:ext cx="12014817" cy="549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628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B8EB31-FF3C-46BC-8FB9-AD4DE788E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9" y="450697"/>
            <a:ext cx="12078321" cy="5956606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07552D43-B200-4EAA-B560-1C735478CEBA}"/>
              </a:ext>
            </a:extLst>
          </p:cNvPr>
          <p:cNvSpPr/>
          <p:nvPr/>
        </p:nvSpPr>
        <p:spPr>
          <a:xfrm>
            <a:off x="6425738" y="2339762"/>
            <a:ext cx="1280160" cy="3036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9807A96-6EA8-4540-A073-ADAC69D896A0}"/>
              </a:ext>
            </a:extLst>
          </p:cNvPr>
          <p:cNvSpPr/>
          <p:nvPr/>
        </p:nvSpPr>
        <p:spPr>
          <a:xfrm>
            <a:off x="6470071" y="3007552"/>
            <a:ext cx="1280160" cy="3036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608031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FA4DC6-B0A6-441C-A46A-6EE66F771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695" y="669783"/>
            <a:ext cx="7950609" cy="5518434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8308CCC4-7E12-4A31-A643-22844277F9F9}"/>
              </a:ext>
            </a:extLst>
          </p:cNvPr>
          <p:cNvSpPr/>
          <p:nvPr/>
        </p:nvSpPr>
        <p:spPr>
          <a:xfrm>
            <a:off x="2302625" y="4563687"/>
            <a:ext cx="1986742" cy="1579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3B55C1A-ED36-4EED-B229-D93C3E2D4501}"/>
              </a:ext>
            </a:extLst>
          </p:cNvPr>
          <p:cNvSpPr/>
          <p:nvPr/>
        </p:nvSpPr>
        <p:spPr>
          <a:xfrm>
            <a:off x="2302625" y="4134195"/>
            <a:ext cx="2119746" cy="2632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619054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3F223C-9772-41EC-95E9-F28674B11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820" y="679308"/>
            <a:ext cx="7982360" cy="5499383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FECFE50B-3B02-43ED-8DDD-E1FE9B53E543}"/>
              </a:ext>
            </a:extLst>
          </p:cNvPr>
          <p:cNvSpPr/>
          <p:nvPr/>
        </p:nvSpPr>
        <p:spPr>
          <a:xfrm>
            <a:off x="2236123" y="5821679"/>
            <a:ext cx="1296786" cy="2881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94840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40A715-3255-4BB1-A42A-799E425E4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325" y="2057329"/>
            <a:ext cx="7118716" cy="2743341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E489A9B7-851E-44F8-9EFC-96EB8066BE5D}"/>
              </a:ext>
            </a:extLst>
          </p:cNvPr>
          <p:cNvSpPr/>
          <p:nvPr/>
        </p:nvSpPr>
        <p:spPr>
          <a:xfrm>
            <a:off x="3025833" y="3926377"/>
            <a:ext cx="1338349" cy="3546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547889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BEDBA1-8483-44F5-A620-85F86DC6B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758" y="1009525"/>
            <a:ext cx="9398483" cy="4838949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E7916AD9-1E64-40A0-B40C-3E7BF0DA18D4}"/>
              </a:ext>
            </a:extLst>
          </p:cNvPr>
          <p:cNvSpPr/>
          <p:nvPr/>
        </p:nvSpPr>
        <p:spPr>
          <a:xfrm>
            <a:off x="2219499" y="3502428"/>
            <a:ext cx="656706" cy="2466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987732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E228AE-B43A-4AC2-AC33-5BF16AB26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8" y="2146234"/>
            <a:ext cx="12040219" cy="2565532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02DD2A17-8D68-4875-9A94-6A3E1D79DF73}"/>
              </a:ext>
            </a:extLst>
          </p:cNvPr>
          <p:cNvSpPr/>
          <p:nvPr/>
        </p:nvSpPr>
        <p:spPr>
          <a:xfrm>
            <a:off x="2456564" y="3356494"/>
            <a:ext cx="3639435" cy="2466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B8EB29F-B9B9-400E-9ABC-C5A68C2CE34F}"/>
              </a:ext>
            </a:extLst>
          </p:cNvPr>
          <p:cNvSpPr/>
          <p:nvPr/>
        </p:nvSpPr>
        <p:spPr>
          <a:xfrm>
            <a:off x="2456563" y="3681305"/>
            <a:ext cx="3639435" cy="2466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7CBA3F0D-B4AD-49A0-9B20-D3F3870F2D43}"/>
              </a:ext>
            </a:extLst>
          </p:cNvPr>
          <p:cNvSpPr/>
          <p:nvPr/>
        </p:nvSpPr>
        <p:spPr>
          <a:xfrm>
            <a:off x="2456563" y="4006116"/>
            <a:ext cx="9509759" cy="2563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603059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944ED2-0AE9-4043-86A4-6F95CFCBB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41" y="2092256"/>
            <a:ext cx="12027518" cy="2673487"/>
          </a:xfrm>
          <a:prstGeom prst="rect">
            <a:avLst/>
          </a:prstGeom>
        </p:spPr>
      </p:pic>
      <p:sp>
        <p:nvSpPr>
          <p:cNvPr id="7" name="正方形/長方形 4">
            <a:extLst>
              <a:ext uri="{FF2B5EF4-FFF2-40B4-BE49-F238E27FC236}">
                <a16:creationId xmlns:a16="http://schemas.microsoft.com/office/drawing/2014/main" id="{B0FC186B-6C16-4455-8164-FF6B364DEE97}"/>
              </a:ext>
            </a:extLst>
          </p:cNvPr>
          <p:cNvSpPr/>
          <p:nvPr/>
        </p:nvSpPr>
        <p:spPr>
          <a:xfrm>
            <a:off x="2456564" y="3389746"/>
            <a:ext cx="3639435" cy="2466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正方形/長方形 4">
            <a:extLst>
              <a:ext uri="{FF2B5EF4-FFF2-40B4-BE49-F238E27FC236}">
                <a16:creationId xmlns:a16="http://schemas.microsoft.com/office/drawing/2014/main" id="{DDD403C8-0BBD-4845-9368-9C41D504FDD1}"/>
              </a:ext>
            </a:extLst>
          </p:cNvPr>
          <p:cNvSpPr/>
          <p:nvPr/>
        </p:nvSpPr>
        <p:spPr>
          <a:xfrm>
            <a:off x="2456563" y="3714557"/>
            <a:ext cx="3639435" cy="2466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正方形/長方形 5">
            <a:extLst>
              <a:ext uri="{FF2B5EF4-FFF2-40B4-BE49-F238E27FC236}">
                <a16:creationId xmlns:a16="http://schemas.microsoft.com/office/drawing/2014/main" id="{572D67A9-831E-45F6-B2CC-EE6138792032}"/>
              </a:ext>
            </a:extLst>
          </p:cNvPr>
          <p:cNvSpPr/>
          <p:nvPr/>
        </p:nvSpPr>
        <p:spPr>
          <a:xfrm>
            <a:off x="2456563" y="4039368"/>
            <a:ext cx="9509759" cy="2563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4">
            <a:extLst>
              <a:ext uri="{FF2B5EF4-FFF2-40B4-BE49-F238E27FC236}">
                <a16:creationId xmlns:a16="http://schemas.microsoft.com/office/drawing/2014/main" id="{A20939D6-495C-4146-ACCE-C44B87960D57}"/>
              </a:ext>
            </a:extLst>
          </p:cNvPr>
          <p:cNvSpPr/>
          <p:nvPr/>
        </p:nvSpPr>
        <p:spPr>
          <a:xfrm>
            <a:off x="7638165" y="3389746"/>
            <a:ext cx="292178" cy="2466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458156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C076AA-8705-4770-BB73-9DFE3E732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41" y="726936"/>
            <a:ext cx="12027518" cy="540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1723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E98622-418E-421B-9C20-6480D045B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6" y="711060"/>
            <a:ext cx="12008467" cy="543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5354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E9AE5E-834A-4860-9078-013BF6E25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248" y="2362145"/>
            <a:ext cx="9779503" cy="213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3848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8E6B15-3C0A-4274-A009-549374357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978" y="726936"/>
            <a:ext cx="9608044" cy="540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25358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7707FD-1D57-41A5-B1FF-CA734E75A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748" y="4148192"/>
            <a:ext cx="7074264" cy="12383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E17FA6-304A-4508-B88C-6946F242A5A5}"/>
              </a:ext>
            </a:extLst>
          </p:cNvPr>
          <p:cNvSpPr txBox="1"/>
          <p:nvPr/>
        </p:nvSpPr>
        <p:spPr>
          <a:xfrm>
            <a:off x="1966652" y="1824645"/>
            <a:ext cx="8375073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/>
              <a:t>[oracle@oradb-lxxkd1 ~]$ $ORACLE_HOME/</a:t>
            </a:r>
            <a:r>
              <a:rPr kumimoji="1" lang="en-US" altLang="ja-JP" sz="1100" dirty="0" err="1"/>
              <a:t>OPatch</a:t>
            </a:r>
            <a:r>
              <a:rPr kumimoji="1" lang="en-US" altLang="ja-JP" sz="1100" dirty="0"/>
              <a:t>/</a:t>
            </a:r>
            <a:r>
              <a:rPr kumimoji="1" lang="en-US" altLang="ja-JP" sz="1100" dirty="0" err="1"/>
              <a:t>opatch</a:t>
            </a:r>
            <a:r>
              <a:rPr kumimoji="1" lang="en-US" altLang="ja-JP" sz="1100" dirty="0"/>
              <a:t> </a:t>
            </a:r>
            <a:r>
              <a:rPr kumimoji="1" lang="en-US" altLang="ja-JP" sz="1100" dirty="0" err="1"/>
              <a:t>lspatches</a:t>
            </a:r>
            <a:endParaRPr kumimoji="1" lang="en-US" altLang="ja-JP" sz="1100" dirty="0"/>
          </a:p>
          <a:p>
            <a:r>
              <a:rPr kumimoji="1" lang="en-US" altLang="ja-JP" sz="1100" dirty="0"/>
              <a:t>34835593;REFERENCE BUG 34792490 - SCHEDULER LAYER CHANGES TO AVOID CYCLIC DEPENDENCY ON DBMS_AQADM_SYS PACKAGE</a:t>
            </a:r>
          </a:p>
          <a:p>
            <a:r>
              <a:rPr kumimoji="1" lang="en-US" altLang="ja-JP" sz="1100" dirty="0"/>
              <a:t>34792490;FADBRWT STRESS FA ORA-00060  DEADLOCK DETECTED DURING DATAPATCH</a:t>
            </a:r>
          </a:p>
          <a:p>
            <a:r>
              <a:rPr kumimoji="1" lang="en-US" altLang="ja-JP" sz="1100" dirty="0"/>
              <a:t>34699616;DSTV40 UPDATE - TZDATA2022E - NEED OJVM FIX</a:t>
            </a:r>
          </a:p>
          <a:p>
            <a:r>
              <a:rPr kumimoji="1" lang="en-US" altLang="ja-JP" sz="1100" dirty="0"/>
              <a:t>34777391;JDK BUNDLE PATCH 19.0.0.0.230117</a:t>
            </a:r>
          </a:p>
          <a:p>
            <a:r>
              <a:rPr kumimoji="1" lang="en-US" altLang="ja-JP" sz="1100" dirty="0"/>
              <a:t>34786990;OJVM RELEASE UPDATE: 19.18.0.0.230117 (34786990)</a:t>
            </a:r>
          </a:p>
          <a:p>
            <a:r>
              <a:rPr kumimoji="1" lang="en-US" altLang="ja-JP" sz="1100" dirty="0"/>
              <a:t>34768559;OCW RELEASE UPDATE 19.18.0.0.0 (34768559)</a:t>
            </a:r>
          </a:p>
          <a:p>
            <a:r>
              <a:rPr kumimoji="1" lang="en-US" altLang="ja-JP" sz="1100" dirty="0"/>
              <a:t>34765931;DATABASE RELEASE UPDATE : 19.18.0.0.230117 (REL-JAN230131) (34765931)</a:t>
            </a:r>
          </a:p>
          <a:p>
            <a:endParaRPr kumimoji="1" lang="en-US" altLang="ja-JP" sz="1100" dirty="0"/>
          </a:p>
          <a:p>
            <a:r>
              <a:rPr kumimoji="1" lang="en-US" altLang="ja-JP" sz="1100" dirty="0" err="1"/>
              <a:t>OPatch</a:t>
            </a:r>
            <a:r>
              <a:rPr kumimoji="1" lang="en-US" altLang="ja-JP" sz="1100" dirty="0"/>
              <a:t> succeeded.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554909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32003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663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5399</TotalTime>
  <Words>3849</Words>
  <Application>Microsoft Office PowerPoint</Application>
  <PresentationFormat>Widescreen</PresentationFormat>
  <Paragraphs>117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6" baseType="lpstr">
      <vt:lpstr>游ゴシック</vt:lpstr>
      <vt:lpstr>游ゴシック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Takuya Miyamoto</dc:creator>
  <cp:lastModifiedBy>Takuya Miyamoto</cp:lastModifiedBy>
  <cp:revision>96</cp:revision>
  <dcterms:created xsi:type="dcterms:W3CDTF">2022-06-28T05:07:52Z</dcterms:created>
  <dcterms:modified xsi:type="dcterms:W3CDTF">2023-03-31T14:52:51Z</dcterms:modified>
</cp:coreProperties>
</file>